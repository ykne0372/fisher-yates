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958E9C7-69F0-C97F-DBE0-64F6504320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10070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650FCB2-77AA-51AE-06EC-A88D3F5239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54130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15EB664-B97D-7A24-B83F-480E0D862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3E408-0FCD-471E-8DC4-44F3A6A02DAE}" type="datetimeFigureOut">
              <a:rPr kumimoji="1" lang="ja-JP" altLang="en-US" smtClean="0"/>
              <a:t>2025/7/22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C56DF7C-F48B-BD25-79BC-989D608F4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A325950-CBB4-8202-01C1-606CAE4CD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E3605-EB53-42A8-A965-043C91EA0F9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09522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95CB814-5C0A-0CF3-4F4B-7DB6B5C62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5034" y="250031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81F2C16-0228-5A7B-F66D-8B4E9F6756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7592" y="1790303"/>
            <a:ext cx="10515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D9FA705-56DF-7A1E-A18E-223EFAB15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3E408-0FCD-471E-8DC4-44F3A6A02DAE}" type="datetimeFigureOut">
              <a:rPr kumimoji="1" lang="ja-JP" altLang="en-US" smtClean="0"/>
              <a:t>2025/7/22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1F0AAEC-1161-43E8-0848-E4DC7E8A9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DF375BC-EB06-7503-348D-4FB99D156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E3605-EB53-42A8-A965-043C91EA0F9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513048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94C0A91-1107-FDEE-6430-08E5443AC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E867CF2-6CC7-2C8B-2C65-51D37053C4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5DB2DF4-0657-3860-DF1E-FBDE90487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3E408-0FCD-471E-8DC4-44F3A6A02DAE}" type="datetimeFigureOut">
              <a:rPr kumimoji="1" lang="ja-JP" altLang="en-US" smtClean="0"/>
              <a:t>2025/7/22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2A63767-5D6C-CBBE-38FA-0B44F1075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A8445BC-9008-9F65-BE25-E66472FA1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E3605-EB53-42A8-A965-043C91EA0F9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57688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666030C-DBD3-9CB8-34F5-55D00673B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D621304-E4D8-6CF1-9941-8AFA873736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B62EAE3-DEAC-66D5-049A-24E92A8ADC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BC0978E-1B07-4DFF-5EDF-9A7DF1606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3E408-0FCD-471E-8DC4-44F3A6A02DAE}" type="datetimeFigureOut">
              <a:rPr kumimoji="1" lang="ja-JP" altLang="en-US" smtClean="0"/>
              <a:t>2025/7/22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834F892-E613-7625-8B9D-8CA818206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8478A0D-6D4E-6D46-83C7-0FADFF902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E3605-EB53-42A8-A965-043C91EA0F9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946738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D8D0A7A-23D5-5BC1-F126-29338A403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FAE2066-2F0F-2503-CF35-D89A728871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3BF606F-E590-30F7-3B48-D7FAD4403E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BD0D6A9-7E22-5BEC-CF15-6F0D4A91F7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F53E5942-3F61-7047-C52A-27E1DE9EA7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A11D3853-F178-E76B-A4C2-20FBA37E4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3E408-0FCD-471E-8DC4-44F3A6A02DAE}" type="datetimeFigureOut">
              <a:rPr kumimoji="1" lang="ja-JP" altLang="en-US" smtClean="0"/>
              <a:t>2025/7/22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E30DA92-25C6-96D9-FD80-B50D0FBD8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2DF5B84C-E84C-CFD4-66F0-DE4375E16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E3605-EB53-42A8-A965-043C91EA0F9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10911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136E11E-E370-133A-FA9A-358B6E530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6A097CD-A37B-745F-2CFE-5E9429C60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3E408-0FCD-471E-8DC4-44F3A6A02DAE}" type="datetimeFigureOut">
              <a:rPr kumimoji="1" lang="ja-JP" altLang="en-US" smtClean="0"/>
              <a:t>2025/7/22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7AD6FAC-BF16-4773-8BBB-C93784340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8D868A7-4FA3-A430-3775-97C39CC8D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E3605-EB53-42A8-A965-043C91EA0F9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4052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2D0B9D2-E378-91A6-095A-4EB51FD60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3E408-0FCD-471E-8DC4-44F3A6A02DAE}" type="datetimeFigureOut">
              <a:rPr kumimoji="1" lang="ja-JP" altLang="en-US" smtClean="0"/>
              <a:t>2025/7/22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572337A-64E2-91E1-36D7-09DDF100A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89D2FAC-3AD7-D2C9-DC21-511496040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E3605-EB53-42A8-A965-043C91EA0F9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56600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908E62B-75CB-7F82-9C18-FFBC9657E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07B21FA-FAFE-015A-A8A9-8E0CD5256E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9BED0C9-AAC4-BF49-2978-C73B7A18D1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FAC41F3-D87B-F683-0FBF-4132B8B1C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3E408-0FCD-471E-8DC4-44F3A6A02DAE}" type="datetimeFigureOut">
              <a:rPr kumimoji="1" lang="ja-JP" altLang="en-US" smtClean="0"/>
              <a:t>2025/7/22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F4B3DF1-E80D-9321-671F-E42B0A188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811EFCB-3235-B91C-019A-8A83E41B0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E3605-EB53-42A8-A965-043C91EA0F9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849544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2171F79-FC2C-C6FD-3A1E-949C927B0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8C19CA0-ADCD-4E07-6108-AF2663C6E3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05FAEFC-A520-48FA-8949-105A49D4B9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E98C481-0377-8C87-DD76-EDE2A8F96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3E408-0FCD-471E-8DC4-44F3A6A02DAE}" type="datetimeFigureOut">
              <a:rPr kumimoji="1" lang="ja-JP" altLang="en-US" smtClean="0"/>
              <a:t>2025/7/22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ED439FF-72A8-0BE8-54CC-5F2AFDA76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B17AE47-6089-E692-792A-0AE05DE2C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E3605-EB53-42A8-A965-043C91EA0F9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556185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12899DD-1D76-B979-8D01-56E40BD10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A3B4EFE-FA4C-4814-9176-9A6415A3FC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7D10A9E-067D-0858-F956-4CD617EF4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3E408-0FCD-471E-8DC4-44F3A6A02DAE}" type="datetimeFigureOut">
              <a:rPr kumimoji="1" lang="ja-JP" altLang="en-US" smtClean="0"/>
              <a:t>2025/7/22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B94F821-F20E-9A3D-8CAD-AF071D362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93F9666-9458-6BD0-23A5-890E27F1F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E3605-EB53-42A8-A965-043C91EA0F9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251748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48AAF244-C33E-1EC1-49F1-ECCAB63C50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10E2618-B191-B6E9-B6A0-23CFD95107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8A9AB3A-E4CB-BAB3-294C-2A8CDC5D2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3E408-0FCD-471E-8DC4-44F3A6A02DAE}" type="datetimeFigureOut">
              <a:rPr kumimoji="1" lang="ja-JP" altLang="en-US" smtClean="0"/>
              <a:t>2025/7/22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A3D6327-5FDA-EAD6-050A-F09D0315A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717F6E8-4ADD-6892-5A0B-085FD0ED1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E3605-EB53-42A8-A965-043C91EA0F9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589927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 descr="グラフィカル ユーザー インターフェイス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9D74B3A2-32E1-4CFB-9306-A91894D56A5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ABD76131-DE31-1626-35A2-FE340FA5B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704" y="25003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CDB3E04-167B-A7B8-7F16-FF063666C2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3ECA861-AEB7-D042-BE63-39B16968A8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A3E408-0FCD-471E-8DC4-44F3A6A02DAE}" type="datetimeFigureOut">
              <a:rPr kumimoji="1" lang="ja-JP" altLang="en-US" smtClean="0"/>
              <a:t>2025/7/22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AAAAA2C-63FD-1161-9153-3C6C3B9AED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D43CD21-8D59-D0A5-532B-7156BA9803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2E3605-EB53-42A8-A965-043C91EA0F9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8428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機械彫刻用標準書体 M" panose="00000600000000000000" pitchFamily="50" charset="-128"/>
          <a:ea typeface="機械彫刻用標準書体 M" panose="00000600000000000000" pitchFamily="50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機械彫刻用標準書体 M" panose="00000600000000000000" pitchFamily="50" charset="-128"/>
          <a:ea typeface="機械彫刻用標準書体 M" panose="00000600000000000000" pitchFamily="50" charset="-128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機械彫刻用標準書体 M" panose="00000600000000000000" pitchFamily="50" charset="-128"/>
          <a:ea typeface="機械彫刻用標準書体 M" panose="00000600000000000000" pitchFamily="50" charset="-128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機械彫刻用標準書体 M" panose="00000600000000000000" pitchFamily="50" charset="-128"/>
          <a:ea typeface="機械彫刻用標準書体 M" panose="00000600000000000000" pitchFamily="50" charset="-128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機械彫刻用標準書体 M" panose="00000600000000000000" pitchFamily="50" charset="-128"/>
          <a:ea typeface="機械彫刻用標準書体 M" panose="00000600000000000000" pitchFamily="50" charset="-128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機械彫刻用標準書体 M" panose="00000600000000000000" pitchFamily="50" charset="-128"/>
          <a:ea typeface="機械彫刻用標準書体 M" panose="00000600000000000000" pitchFamily="50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8631622-E600-DDEB-594B-332D4EC7D2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56387"/>
            <a:ext cx="9144000" cy="2387600"/>
          </a:xfrm>
        </p:spPr>
        <p:txBody>
          <a:bodyPr/>
          <a:lstStyle/>
          <a:p>
            <a:r>
              <a:rPr kumimoji="1" lang="en-US" altLang="ja-JP" dirty="0"/>
              <a:t>Fisher-Yates</a:t>
            </a:r>
            <a:r>
              <a:rPr kumimoji="1" lang="ja-JP" altLang="en-US" dirty="0"/>
              <a:t>の</a:t>
            </a:r>
            <a:br>
              <a:rPr kumimoji="1" lang="en-US" altLang="ja-JP" dirty="0"/>
            </a:br>
            <a:r>
              <a:rPr kumimoji="1" lang="ja-JP" altLang="en-US" dirty="0"/>
              <a:t>シャッフル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9314AB1-F3AD-97CD-DAB6-F2DDCBA6EA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63730"/>
            <a:ext cx="9144000" cy="931527"/>
          </a:xfrm>
        </p:spPr>
        <p:txBody>
          <a:bodyPr/>
          <a:lstStyle/>
          <a:p>
            <a:r>
              <a:rPr kumimoji="1" lang="en-US" altLang="ja-JP" dirty="0"/>
              <a:t>4I-02 </a:t>
            </a:r>
            <a:r>
              <a:rPr kumimoji="1" lang="ja-JP" altLang="en-US" dirty="0">
                <a:latin typeface="マメロン 3 Hi Regular" panose="00000300000000000000" pitchFamily="50" charset="-128"/>
                <a:ea typeface="マメロン 3 Hi Regular" panose="00000300000000000000" pitchFamily="50" charset="-128"/>
              </a:rPr>
              <a:t>赤嵜楓</a:t>
            </a:r>
          </a:p>
        </p:txBody>
      </p:sp>
    </p:spTree>
    <p:extLst>
      <p:ext uri="{BB962C8B-B14F-4D97-AF65-F5344CB8AC3E}">
        <p14:creationId xmlns:p14="http://schemas.microsoft.com/office/powerpoint/2010/main" val="15804403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C4A0195-F066-E109-9149-0FCF620C3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6333" y="250031"/>
            <a:ext cx="10515600" cy="1325563"/>
          </a:xfrm>
        </p:spPr>
        <p:txBody>
          <a:bodyPr/>
          <a:lstStyle/>
          <a:p>
            <a:r>
              <a:rPr kumimoji="1" lang="en-US" altLang="ja-JP" dirty="0"/>
              <a:t>Fisher-Yates</a:t>
            </a:r>
            <a:r>
              <a:rPr kumimoji="1" lang="ja-JP" altLang="en-US" dirty="0"/>
              <a:t>のシャッフルとは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E81AEC3-EF9D-F1B8-0134-0F06B4D235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1485" y="1825625"/>
            <a:ext cx="10515600" cy="4351338"/>
          </a:xfrm>
        </p:spPr>
        <p:txBody>
          <a:bodyPr/>
          <a:lstStyle/>
          <a:p>
            <a:r>
              <a:rPr kumimoji="1" lang="ja-JP" altLang="en-US" dirty="0"/>
              <a:t>ロナウド・フィッシャー、フランク・イェーツ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　によって考案されたシャッフルアルゴリズム</a:t>
            </a:r>
          </a:p>
          <a:p>
            <a:pPr marL="0" indent="0">
              <a:buNone/>
            </a:pPr>
            <a:endParaRPr lang="en-US" altLang="ja-JP" dirty="0"/>
          </a:p>
          <a:p>
            <a:r>
              <a:rPr kumimoji="1" lang="en-US" altLang="ja-JP" dirty="0"/>
              <a:t>in-place</a:t>
            </a:r>
            <a:r>
              <a:rPr kumimoji="1" lang="ja-JP" altLang="en-US" dirty="0"/>
              <a:t>なアルゴリズム</a:t>
            </a:r>
            <a:endParaRPr kumimoji="1" lang="en-US" altLang="ja-JP" dirty="0"/>
          </a:p>
          <a:p>
            <a:endParaRPr lang="en-US" altLang="ja-JP" dirty="0"/>
          </a:p>
          <a:p>
            <a:r>
              <a:rPr kumimoji="1" lang="en-US" altLang="ja-JP" dirty="0"/>
              <a:t>O(N)</a:t>
            </a:r>
            <a:r>
              <a:rPr kumimoji="1" lang="ja-JP" altLang="en-US" dirty="0"/>
              <a:t>で動作する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6434138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15712A8-376E-41A4-7765-62DDF673B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4561" y="206488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動作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F3CC2D3-D849-C760-2AA8-6F81148D21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ja-JP" altLang="en-US" dirty="0"/>
              <a:t>まだ選ばれていないカードからランダムに一枚選ぶ</a:t>
            </a:r>
            <a:endParaRPr lang="en-US" altLang="ja-JP" dirty="0"/>
          </a:p>
          <a:p>
            <a:pPr marL="514350" indent="-514350">
              <a:buAutoNum type="arabicPeriod"/>
            </a:pPr>
            <a:r>
              <a:rPr kumimoji="1" lang="ja-JP" altLang="en-US" dirty="0"/>
              <a:t>まだ選ばれていないカードの右端と入れ替える</a:t>
            </a:r>
            <a:endParaRPr lang="en-US" altLang="ja-JP" dirty="0"/>
          </a:p>
          <a:p>
            <a:pPr marL="514350" indent="-514350">
              <a:buAutoNum type="arabicPeriod"/>
            </a:pPr>
            <a:r>
              <a:rPr kumimoji="1" lang="en-US" altLang="ja-JP" dirty="0"/>
              <a:t>1, 2 </a:t>
            </a:r>
            <a:r>
              <a:rPr kumimoji="1" lang="ja-JP" altLang="en-US" dirty="0"/>
              <a:t>を繰り返す</a:t>
            </a:r>
            <a:endParaRPr kumimoji="1" lang="en-US" altLang="ja-JP" dirty="0"/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E3B1CBAC-02EA-4562-4EF1-0BECCC28D286}"/>
              </a:ext>
            </a:extLst>
          </p:cNvPr>
          <p:cNvSpPr/>
          <p:nvPr/>
        </p:nvSpPr>
        <p:spPr>
          <a:xfrm>
            <a:off x="3102429" y="4082140"/>
            <a:ext cx="1132113" cy="1589315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4400" b="1" dirty="0">
                <a:latin typeface="Cica" panose="020B0409020203020207" pitchFamily="49" charset="-128"/>
                <a:ea typeface="Cica" panose="020B0409020203020207" pitchFamily="49" charset="-128"/>
              </a:rPr>
              <a:t>１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0FBFA759-C575-90D3-1C6D-D02308C9A283}"/>
              </a:ext>
            </a:extLst>
          </p:cNvPr>
          <p:cNvSpPr/>
          <p:nvPr/>
        </p:nvSpPr>
        <p:spPr>
          <a:xfrm>
            <a:off x="4680858" y="4082141"/>
            <a:ext cx="1132113" cy="1589315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400" b="1" dirty="0">
                <a:latin typeface="Cica" panose="020B0409020203020207" pitchFamily="49" charset="-128"/>
                <a:ea typeface="Cica" panose="020B0409020203020207" pitchFamily="49" charset="-128"/>
              </a:rPr>
              <a:t>2</a:t>
            </a:r>
            <a:endParaRPr kumimoji="1" lang="ja-JP" altLang="en-US" sz="4400" b="1" dirty="0">
              <a:latin typeface="Cica" panose="020B0409020203020207" pitchFamily="49" charset="-128"/>
              <a:ea typeface="Cica" panose="020B0409020203020207" pitchFamily="49" charset="-128"/>
            </a:endParaRP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A839FA76-3C6A-4DE5-DBB5-31C6CEEDBC11}"/>
              </a:ext>
            </a:extLst>
          </p:cNvPr>
          <p:cNvSpPr/>
          <p:nvPr/>
        </p:nvSpPr>
        <p:spPr>
          <a:xfrm>
            <a:off x="6259287" y="4082141"/>
            <a:ext cx="1132113" cy="1589315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400" b="1" dirty="0">
                <a:latin typeface="Cica" panose="020B0409020203020207" pitchFamily="49" charset="-128"/>
                <a:ea typeface="Cica" panose="020B0409020203020207" pitchFamily="49" charset="-128"/>
              </a:rPr>
              <a:t>3</a:t>
            </a:r>
            <a:endParaRPr kumimoji="1" lang="ja-JP" altLang="en-US" sz="4400" b="1" dirty="0">
              <a:latin typeface="Cica" panose="020B0409020203020207" pitchFamily="49" charset="-128"/>
              <a:ea typeface="Cica" panose="020B0409020203020207" pitchFamily="49" charset="-128"/>
            </a:endParaRP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421F763F-20AD-837A-E95A-5FD0CFC9B7F1}"/>
              </a:ext>
            </a:extLst>
          </p:cNvPr>
          <p:cNvSpPr/>
          <p:nvPr/>
        </p:nvSpPr>
        <p:spPr>
          <a:xfrm>
            <a:off x="7837716" y="4082140"/>
            <a:ext cx="1132113" cy="1589315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400" b="1" dirty="0">
                <a:latin typeface="Cica" panose="020B0409020203020207" pitchFamily="49" charset="-128"/>
                <a:ea typeface="Cica" panose="020B0409020203020207" pitchFamily="49" charset="-128"/>
              </a:rPr>
              <a:t>4</a:t>
            </a:r>
            <a:endParaRPr kumimoji="1" lang="ja-JP" altLang="en-US" sz="4400" b="1" dirty="0">
              <a:latin typeface="Cica" panose="020B0409020203020207" pitchFamily="49" charset="-128"/>
              <a:ea typeface="Cica" panose="020B0409020203020207" pitchFamily="49" charset="-128"/>
            </a:endParaRP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DE7B0767-B502-0033-85E4-7E6DD09C5388}"/>
              </a:ext>
            </a:extLst>
          </p:cNvPr>
          <p:cNvSpPr/>
          <p:nvPr/>
        </p:nvSpPr>
        <p:spPr>
          <a:xfrm>
            <a:off x="7837715" y="4082140"/>
            <a:ext cx="1132113" cy="158931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400" b="1" dirty="0">
                <a:latin typeface="Cica" panose="020B0409020203020207" pitchFamily="49" charset="-128"/>
                <a:ea typeface="Cica" panose="020B0409020203020207" pitchFamily="49" charset="-128"/>
              </a:rPr>
              <a:t>3</a:t>
            </a:r>
            <a:endParaRPr kumimoji="1" lang="ja-JP" altLang="en-US" sz="4400" b="1" dirty="0">
              <a:latin typeface="Cica" panose="020B0409020203020207" pitchFamily="49" charset="-128"/>
              <a:ea typeface="Cica" panose="020B0409020203020207" pitchFamily="49" charset="-128"/>
            </a:endParaRP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6AB54318-F8CB-D34A-18EE-CC22383DEC1F}"/>
              </a:ext>
            </a:extLst>
          </p:cNvPr>
          <p:cNvSpPr/>
          <p:nvPr/>
        </p:nvSpPr>
        <p:spPr>
          <a:xfrm>
            <a:off x="6259287" y="4082140"/>
            <a:ext cx="1132113" cy="1589315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400" b="1" dirty="0">
                <a:latin typeface="Cica" panose="020B0409020203020207" pitchFamily="49" charset="-128"/>
                <a:ea typeface="Cica" panose="020B0409020203020207" pitchFamily="49" charset="-128"/>
              </a:rPr>
              <a:t>4</a:t>
            </a:r>
            <a:endParaRPr kumimoji="1" lang="ja-JP" altLang="en-US" sz="4400" b="1" dirty="0">
              <a:latin typeface="Cica" panose="020B0409020203020207" pitchFamily="49" charset="-128"/>
              <a:ea typeface="Cica" panose="020B0409020203020207" pitchFamily="49" charset="-128"/>
            </a:endParaRPr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1583A5F9-BCF2-3B97-8650-EDEB1F7239A6}"/>
              </a:ext>
            </a:extLst>
          </p:cNvPr>
          <p:cNvSpPr/>
          <p:nvPr/>
        </p:nvSpPr>
        <p:spPr>
          <a:xfrm>
            <a:off x="6259286" y="4082140"/>
            <a:ext cx="1132113" cy="158931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4400" b="1" dirty="0">
                <a:latin typeface="Cica" panose="020B0409020203020207" pitchFamily="49" charset="-128"/>
                <a:ea typeface="Cica" panose="020B0409020203020207" pitchFamily="49" charset="-128"/>
              </a:rPr>
              <a:t>1</a:t>
            </a:r>
            <a:endParaRPr kumimoji="1" lang="ja-JP" altLang="en-US" sz="4400" b="1" dirty="0">
              <a:latin typeface="Cica" panose="020B0409020203020207" pitchFamily="49" charset="-128"/>
              <a:ea typeface="Cica" panose="020B0409020203020207" pitchFamily="49" charset="-128"/>
            </a:endParaRP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960073F2-AE63-9314-E370-17E2CF97AA30}"/>
              </a:ext>
            </a:extLst>
          </p:cNvPr>
          <p:cNvSpPr/>
          <p:nvPr/>
        </p:nvSpPr>
        <p:spPr>
          <a:xfrm>
            <a:off x="3102428" y="4082140"/>
            <a:ext cx="1132113" cy="1589315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4400" b="1" dirty="0">
                <a:latin typeface="Cica" panose="020B0409020203020207" pitchFamily="49" charset="-128"/>
                <a:ea typeface="Cica" panose="020B0409020203020207" pitchFamily="49" charset="-128"/>
              </a:rPr>
              <a:t>4</a:t>
            </a:r>
            <a:endParaRPr kumimoji="1" lang="ja-JP" altLang="en-US" sz="4400" b="1" dirty="0">
              <a:latin typeface="Cica" panose="020B0409020203020207" pitchFamily="49" charset="-128"/>
              <a:ea typeface="Cica" panose="020B0409020203020207" pitchFamily="49" charset="-128"/>
            </a:endParaRP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287AD559-A758-F7FC-32FC-3571596D574B}"/>
              </a:ext>
            </a:extLst>
          </p:cNvPr>
          <p:cNvSpPr/>
          <p:nvPr/>
        </p:nvSpPr>
        <p:spPr>
          <a:xfrm>
            <a:off x="4680857" y="4082140"/>
            <a:ext cx="1132113" cy="158931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400" b="1" dirty="0">
                <a:latin typeface="Cica" panose="020B0409020203020207" pitchFamily="49" charset="-128"/>
                <a:ea typeface="Cica" panose="020B0409020203020207" pitchFamily="49" charset="-128"/>
              </a:rPr>
              <a:t>2</a:t>
            </a:r>
            <a:endParaRPr kumimoji="1" lang="ja-JP" altLang="en-US" sz="4400" b="1" dirty="0">
              <a:latin typeface="Cica" panose="020B0409020203020207" pitchFamily="49" charset="-128"/>
              <a:ea typeface="Cica" panose="020B0409020203020207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62848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50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10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0" dur="50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10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3" dur="50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2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8" grpId="0" animBg="1"/>
      <p:bldP spid="14" grpId="0" animBg="1"/>
      <p:bldP spid="15" grpId="0" animBg="1"/>
      <p:bldP spid="15" grpId="1" animBg="1"/>
      <p:bldP spid="17" grpId="0" animBg="1"/>
      <p:bldP spid="18" grpId="0" animBg="1"/>
      <p:bldP spid="1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AC1711-761E-C186-0FDC-20AB1C689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プログラム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51DE195B-8F3C-6CEC-1A2D-733FB2FFEB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55034" y="1804194"/>
            <a:ext cx="7132335" cy="4351338"/>
          </a:xfrm>
        </p:spPr>
      </p:pic>
    </p:spTree>
    <p:extLst>
      <p:ext uri="{BB962C8B-B14F-4D97-AF65-F5344CB8AC3E}">
        <p14:creationId xmlns:p14="http://schemas.microsoft.com/office/powerpoint/2010/main" val="35654879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C391346-71B2-AC46-83DF-4C652F537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ポイント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4C368A42-B238-C93A-F50B-2A313E558F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ja-JP" altLang="en-US" dirty="0"/>
                  <a:t>全ての順列が等確率で生成される</a:t>
                </a:r>
                <a:endParaRPr kumimoji="1" lang="en-US" altLang="ja-JP" dirty="0"/>
              </a:p>
              <a:p>
                <a:pPr marL="0" indent="0">
                  <a:buNone/>
                </a:pPr>
                <a:endParaRPr kumimoji="1" lang="en-US" altLang="ja-JP" sz="1000" dirty="0"/>
              </a:p>
              <a:p>
                <a:pPr lvl="1">
                  <a:buFont typeface="Wingdings" panose="05000000000000000000" pitchFamily="2" charset="2"/>
                  <a:buChar char="ü"/>
                </a:pPr>
                <a:r>
                  <a:rPr kumimoji="1" lang="ja-JP" altLang="en-US" dirty="0"/>
                  <a:t>生成可能な順列数は </a:t>
                </a:r>
                <a14:m>
                  <m:oMath xmlns:m="http://schemas.openxmlformats.org/officeDocument/2006/math">
                    <m:r>
                      <a:rPr kumimoji="1" lang="en-US" altLang="ja-JP" sz="28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kumimoji="1" lang="en-US" altLang="ja-JP" sz="2800" b="0" i="1" smtClean="0"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kumimoji="1" lang="en-US" altLang="ja-JP" sz="2800" dirty="0"/>
                  <a:t> </a:t>
                </a:r>
                <a:r>
                  <a:rPr kumimoji="1" lang="ja-JP" altLang="en-US" dirty="0"/>
                  <a:t>通り</a:t>
                </a:r>
                <a:endParaRPr kumimoji="1" lang="en-US" altLang="ja-JP" dirty="0"/>
              </a:p>
              <a:p>
                <a:pPr lvl="1">
                  <a:buFont typeface="Wingdings" panose="05000000000000000000" pitchFamily="2" charset="2"/>
                  <a:buChar char="ü"/>
                </a:pPr>
                <a:endParaRPr kumimoji="1" lang="en-US" altLang="ja-JP" sz="800" dirty="0"/>
              </a:p>
              <a:p>
                <a:pPr lvl="1">
                  <a:buFont typeface="Wingdings" panose="05000000000000000000" pitchFamily="2" charset="2"/>
                  <a:buChar char="ü"/>
                </a:pPr>
                <a:r>
                  <a:rPr lang="en-US" altLang="ja-JP" dirty="0"/>
                  <a:t>1</a:t>
                </a:r>
                <a:r>
                  <a:rPr lang="ja-JP" altLang="en-US" dirty="0"/>
                  <a:t>順列が生成される確率は </a:t>
                </a:r>
                <a14:m>
                  <m:oMath xmlns:m="http://schemas.openxmlformats.org/officeDocument/2006/math">
                    <m:r>
                      <a:rPr lang="en-US" altLang="ja-JP" sz="28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ja-JP" sz="2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n-US" altLang="ja-JP" sz="2800" b="0" i="1" smtClean="0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altLang="ja-JP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sz="28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  <m:r>
                      <a:rPr lang="en-US" altLang="ja-JP" sz="2800" b="0" i="1" smtClean="0">
                        <a:latin typeface="Cambria Math" panose="02040503050406030204" pitchFamily="18" charset="0"/>
                      </a:rPr>
                      <m:t>×…×</m:t>
                    </m:r>
                    <m:f>
                      <m:fPr>
                        <m:ctrlPr>
                          <a:rPr lang="en-US" altLang="ja-JP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ja-JP" sz="2800" b="0" i="1" smtClean="0">
                        <a:latin typeface="Cambria Math" panose="02040503050406030204" pitchFamily="18" charset="0"/>
                      </a:rPr>
                      <m:t>×1=</m:t>
                    </m:r>
                    <m:f>
                      <m:fPr>
                        <m:ctrlPr>
                          <a:rPr lang="en-US" altLang="ja-JP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sz="2800" b="0" i="1" smtClean="0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endParaRPr kumimoji="1" lang="en-US" altLang="ja-JP" dirty="0"/>
              </a:p>
              <a:p>
                <a:pPr lvl="1">
                  <a:buFont typeface="Wingdings" panose="05000000000000000000" pitchFamily="2" charset="2"/>
                  <a:buChar char="ü"/>
                </a:pPr>
                <a:endParaRPr kumimoji="1" lang="en-US" altLang="ja-JP" sz="800" dirty="0"/>
              </a:p>
              <a:p>
                <a:pPr lvl="1">
                  <a:buFont typeface="Wingdings" panose="05000000000000000000" pitchFamily="2" charset="2"/>
                  <a:buChar char="ü"/>
                </a:pPr>
                <a:r>
                  <a:rPr lang="ja-JP" altLang="en-US" dirty="0"/>
                  <a:t>選ばれた要素は</a:t>
                </a:r>
                <a:r>
                  <a:rPr kumimoji="1" lang="ja-JP" altLang="en-US" dirty="0"/>
                  <a:t>再抽選されない ⇒ 一意性</a:t>
                </a:r>
                <a:endParaRPr kumimoji="1" lang="en-US" altLang="ja-JP" dirty="0"/>
              </a:p>
              <a:p>
                <a:pPr marL="457200" lvl="1" indent="0">
                  <a:buNone/>
                </a:pPr>
                <a:r>
                  <a:rPr lang="ja-JP" altLang="en-US" dirty="0"/>
                  <a:t>　　</a:t>
                </a:r>
                <a:endParaRPr kumimoji="1" lang="en-US" altLang="ja-JP" dirty="0"/>
              </a:p>
            </p:txBody>
          </p:sp>
        </mc:Choice>
        <mc:Fallback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4C368A42-B238-C93A-F50B-2A313E558F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52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48122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3AEE6E9-64F2-7C48-6E87-1AD2E5175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注意点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F03F9A9-3CBA-9897-5F20-A879EC91F1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「ランダムに選ぶ」のは難しい</a:t>
            </a:r>
            <a:endParaRPr kumimoji="1" lang="en-US" altLang="ja-JP" dirty="0"/>
          </a:p>
          <a:p>
            <a:pPr marL="457200" lvl="1" indent="0">
              <a:buNone/>
            </a:pPr>
            <a:r>
              <a:rPr kumimoji="1" lang="ja-JP" altLang="en-US" sz="2800" dirty="0">
                <a:latin typeface="Cica" panose="020B0409020203020207" pitchFamily="49" charset="-128"/>
                <a:ea typeface="Cica" panose="020B0409020203020207" pitchFamily="49" charset="-128"/>
              </a:rPr>
              <a:t>疑</a:t>
            </a:r>
            <a:r>
              <a:rPr kumimoji="1" lang="ja-JP" altLang="en-US" dirty="0"/>
              <a:t>似乱数の</a:t>
            </a:r>
            <a:r>
              <a:rPr kumimoji="1" lang="ja-JP" altLang="en-US"/>
              <a:t>おはなし↓</a:t>
            </a:r>
            <a:r>
              <a:rPr lang="ja-JP" altLang="en-US"/>
              <a:t> ↓ ↓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4402376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</TotalTime>
  <Words>128</Words>
  <Application>Microsoft Office PowerPoint</Application>
  <PresentationFormat>ワイド画面</PresentationFormat>
  <Paragraphs>35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4" baseType="lpstr">
      <vt:lpstr>Cica</vt:lpstr>
      <vt:lpstr>マメロン 3 Hi Regular</vt:lpstr>
      <vt:lpstr>機械彫刻用標準書体 M</vt:lpstr>
      <vt:lpstr>游ゴシック</vt:lpstr>
      <vt:lpstr>Arial</vt:lpstr>
      <vt:lpstr>Cambria Math</vt:lpstr>
      <vt:lpstr>Wingdings</vt:lpstr>
      <vt:lpstr>Office テーマ</vt:lpstr>
      <vt:lpstr>Fisher-Yatesの シャッフル</vt:lpstr>
      <vt:lpstr>Fisher-Yatesのシャッフルとは</vt:lpstr>
      <vt:lpstr>動作</vt:lpstr>
      <vt:lpstr>プログラム</vt:lpstr>
      <vt:lpstr>ポイント</vt:lpstr>
      <vt:lpstr>注意点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赤嵜　楓</dc:creator>
  <cp:lastModifiedBy>赤嵜　楓</cp:lastModifiedBy>
  <cp:revision>2</cp:revision>
  <dcterms:created xsi:type="dcterms:W3CDTF">2025-07-17T02:57:16Z</dcterms:created>
  <dcterms:modified xsi:type="dcterms:W3CDTF">2025-07-22T09:02:53Z</dcterms:modified>
</cp:coreProperties>
</file>